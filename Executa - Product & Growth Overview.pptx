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40</c:v>
                </c:pt>
                <c:pt idx="2">
                  <c:v>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4F46E5"/>
            </a:solidFill>
            <a:ln w="38100" cap="flat">
              <a:solidFill>
                <a:srgbClr val="4F46E5"/>
              </a:solidFill>
              <a:prstDash val="solid"/>
              <a:round/>
            </a:ln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4F46E5"/>
              </a:solidFill>
              <a:ln w="9525" cap="flat">
                <a:solidFill>
                  <a:srgbClr val="4F46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590</c:v>
                </c:pt>
                <c:pt idx="1">
                  <c:v>2950</c:v>
                </c:pt>
                <c:pt idx="2">
                  <c:v>9800</c:v>
                </c:pt>
              </c:numCache>
            </c:numRef>
          </c:val>
          <c:smooth val="0"/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822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KEEL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22860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operating system for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boutique project delivery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864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Growth Overview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4892040"/>
            <a:ext cx="2011680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strategy deck  ·  Prepared July 2026  ·  Revenue and growth figures are illustrative examples, not forecasts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811512" y="4937760"/>
            <a:ext cx="1234440" cy="12344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5832" y="521208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teams run on a patchwork of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consultancies and internal PMOs deliver client engagements across spreadsheets, chat threads, generic task boards, and hand-built decks — with no single system of record, and no AI actually helping the PM think.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17236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770632"/>
            <a:ext cx="685800" cy="685800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916936"/>
            <a:ext cx="393192" cy="39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715768"/>
            <a:ext cx="39913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and staffing plans live in spreadsheets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45920" y="3264408"/>
            <a:ext cx="39913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Effort, cost, and rate-card math redone by hand for every project.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23076" y="2514600"/>
            <a:ext cx="5317236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79108" y="2770632"/>
            <a:ext cx="685800" cy="685800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412" y="2916936"/>
            <a:ext cx="393192" cy="393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20356" y="2715768"/>
            <a:ext cx="39913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lives in email and chat, not the project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420356" y="3264408"/>
            <a:ext cx="39913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risks, and decisions scattered across threads no one can search.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343400"/>
            <a:ext cx="5317236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4672" y="4599432"/>
            <a:ext cx="685800" cy="685800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745736"/>
            <a:ext cx="393192" cy="3931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544568"/>
            <a:ext cx="39913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RFPs and evaluations are manual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645920" y="5093208"/>
            <a:ext cx="39913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Scoring, comparison, and recommendations built fresh each time.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323076" y="4343400"/>
            <a:ext cx="5317236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79108" y="4599432"/>
            <a:ext cx="685800" cy="685800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412" y="4745736"/>
            <a:ext cx="393192" cy="3931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20356" y="4544568"/>
            <a:ext cx="39913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reports are rebuilt the night before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420356" y="5093208"/>
            <a:ext cx="39913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deck and one-pager assembled by hand under time pressure.</a:t>
            </a:r>
            <a:endParaRPr lang="en-US" sz="11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73952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22960" y="6428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KEEL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3657600" y="6428232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9811512" y="6428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KEEL CAN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 for the full engagement lifecycle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92424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06654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517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lifecycle, one record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99008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Ideation, charter, plan, sprints, budget, and support in a single place.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98264" y="1691640"/>
            <a:ext cx="3392424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54296" y="1947672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06654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54296" y="26517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project manager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54296" y="299008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charters, plans, risks, and status — not a chat bolted on the side.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47888" y="1691640"/>
            <a:ext cx="3392424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03920" y="1947672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206654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26517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evaluation, built in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503920" y="299008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drafting, vendor scoring, and side-by-side comparison, no spreadsheet.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392424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142232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26110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846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that look the part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04672" y="51846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Word, PDF, and PowerPoint exports generated on demand.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98264" y="3886200"/>
            <a:ext cx="3392424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54296" y="4142232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26110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54296" y="4846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anything by asking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54296" y="51846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Propose-then-apply AI edits across risks, tasks, SOWs, and deliverables.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47888" y="3886200"/>
            <a:ext cx="3392424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503920" y="4142232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2" y="4261104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03920" y="4846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your own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503920" y="51846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and multi-theme, ready to carry a client's own brand.</a:t>
            </a:r>
            <a:endParaRPr lang="en-US" sz="11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473952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22960" y="6428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KEEL</a:t>
            </a:r>
            <a:endParaRPr lang="en-US" sz="800" dirty="0"/>
          </a:p>
        </p:txBody>
      </p:sp>
      <p:sp>
        <p:nvSpPr>
          <p:cNvPr id="36" name="Text 27"/>
          <p:cNvSpPr/>
          <p:nvPr/>
        </p:nvSpPr>
        <p:spPr>
          <a:xfrm>
            <a:off x="3657600" y="6428232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Keel Can Do</a:t>
            </a:r>
            <a:endParaRPr lang="en-US" sz="800" dirty="0"/>
          </a:p>
        </p:txBody>
      </p:sp>
      <p:sp>
        <p:nvSpPr>
          <p:cNvPr id="37" name="Text 28"/>
          <p:cNvSpPr/>
          <p:nvPr/>
        </p:nvSpPr>
        <p:spPr>
          <a:xfrm>
            <a:off x="9811512" y="6428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Keel stands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2956" cy="2148840"/>
          </a:xfrm>
          <a:prstGeom prst="roundRect">
            <a:avLst>
              <a:gd name="adj" fmla="val 3404"/>
            </a:avLst>
          </a:prstGeom>
          <a:solidFill>
            <a:srgbClr val="D1FAE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93852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2880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143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Full-lifecycle coverage rare in one product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woven into the workflow, not bolted 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 — fast iteration and shipping velocity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77356" y="1600200"/>
            <a:ext cx="5362956" cy="2148840"/>
          </a:xfrm>
          <a:prstGeom prst="roundRect">
            <a:avLst>
              <a:gd name="adj" fmla="val 3404"/>
            </a:avLst>
          </a:prstGeom>
          <a:solidFill>
            <a:srgbClr val="FEF3C7"/>
          </a:solidFill>
          <a:ln/>
        </p:spPr>
      </p:sp>
      <p:sp>
        <p:nvSpPr>
          <p:cNvPr id="10" name="Shape 7"/>
          <p:cNvSpPr/>
          <p:nvPr/>
        </p:nvSpPr>
        <p:spPr>
          <a:xfrm>
            <a:off x="6505956" y="1828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684" y="193852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46036" y="182880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51676" y="2468880"/>
            <a:ext cx="48143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 market, no reference customers yet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 means limited support capacity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integrations yet with Slack, Jira, and similar tools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62956" cy="2148840"/>
          </a:xfrm>
          <a:prstGeom prst="roundRect">
            <a:avLst>
              <a:gd name="adj" fmla="val 3404"/>
            </a:avLst>
          </a:prstGeom>
          <a:solidFill>
            <a:srgbClr val="C7D2FE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36168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25196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" y="4892040"/>
            <a:ext cx="48143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consultancies underserved by enterprise PSA tools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PM tooling is still an early category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pricing fits SMB delivery budgets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77356" y="4023360"/>
            <a:ext cx="5362956" cy="2148840"/>
          </a:xfrm>
          <a:prstGeom prst="roundRect">
            <a:avLst>
              <a:gd name="adj" fmla="val 3404"/>
            </a:avLst>
          </a:prstGeom>
          <a:solidFill>
            <a:srgbClr val="FEE2E2"/>
          </a:solidFill>
          <a:ln/>
        </p:spPr>
      </p:sp>
      <p:sp>
        <p:nvSpPr>
          <p:cNvPr id="20" name="Shape 15"/>
          <p:cNvSpPr/>
          <p:nvPr/>
        </p:nvSpPr>
        <p:spPr>
          <a:xfrm>
            <a:off x="6505956" y="4251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4" y="436168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46036" y="425196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51676" y="4892040"/>
            <a:ext cx="48143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PSA incumbents adding their own AI features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skepticism toward “AI-washed” tools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pressure on consulting budgets</a:t>
            </a:r>
            <a:endParaRPr lang="en-US" sz="11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73952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22960" y="6428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KEEL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3657600" y="6428232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9811512" y="6428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 — EXAMPLE FIGURES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revenue opportunity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pricing shown for discussion — not current published pricing or a market forecast.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53384" cy="2880360"/>
          </a:xfrm>
          <a:prstGeom prst="roundRect">
            <a:avLst>
              <a:gd name="adj" fmla="val 2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01012" y="22402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9884" y="235915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926080"/>
            <a:ext cx="3453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3291840"/>
            <a:ext cx="3453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/user/mo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48640" y="3794760"/>
            <a:ext cx="3453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consultants &amp; small teams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8680" y="411480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organization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active projects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drafting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67784" y="1965960"/>
            <a:ext cx="3453384" cy="2880360"/>
          </a:xfrm>
          <a:prstGeom prst="roundRect">
            <a:avLst>
              <a:gd name="adj" fmla="val 254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20156" y="22402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028" y="235915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67784" y="2926080"/>
            <a:ext cx="3453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367784" y="3291840"/>
            <a:ext cx="3453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</a:t>
            </a:r>
            <a:pPr algn="ctr"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/user/mo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4367784" y="3794760"/>
            <a:ext cx="3453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delivery teams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687824" y="411480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projects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evaluation &amp; RFPs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exports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186928" y="1965960"/>
            <a:ext cx="3453384" cy="2880360"/>
          </a:xfrm>
          <a:prstGeom prst="roundRect">
            <a:avLst>
              <a:gd name="adj" fmla="val 2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639300" y="22402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8172" y="2359152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86928" y="2926080"/>
            <a:ext cx="3453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186928" y="3291840"/>
            <a:ext cx="3453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/user/mo</a:t>
            </a:r>
            <a:endParaRPr lang="en-US" sz="3000" dirty="0"/>
          </a:p>
        </p:txBody>
      </p:sp>
      <p:sp>
        <p:nvSpPr>
          <p:cNvPr id="24" name="Text 19"/>
          <p:cNvSpPr/>
          <p:nvPr/>
        </p:nvSpPr>
        <p:spPr>
          <a:xfrm>
            <a:off x="8186928" y="3794760"/>
            <a:ext cx="3453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Multi-client agencies &amp; PMOs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506968" y="411480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client branding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Portfolio-wide reporting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48640" y="50749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C7D2FE"/>
          </a:solidFill>
          <a:ln/>
        </p:spPr>
      </p:sp>
      <p:sp>
        <p:nvSpPr>
          <p:cNvPr id="27" name="Text 22"/>
          <p:cNvSpPr/>
          <p:nvPr/>
        </p:nvSpPr>
        <p:spPr>
          <a:xfrm>
            <a:off x="822960" y="50749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example:  </a:t>
            </a:r>
            <a:pPr indent="0" marL="0">
              <a:buNone/>
            </a:pPr>
            <a:r>
              <a:rPr lang="en-US" sz="13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seats × $59/mo ≈ $2,950 in monthly recurring revenue</a:t>
            </a:r>
            <a:endParaRPr lang="en-US" sz="13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73952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22960" y="6428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KEEL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3657600" y="6428232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Opportunity — Illustrative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9811512" y="6428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GROWTH — EXAMPLE FIGURES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3-year growth scenario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planning scenario — not a forecast or commitment.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317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customer count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286000"/>
          <a:ext cx="5317236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23076" y="1920240"/>
            <a:ext cx="5317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monthly recurring revenue ($)</a:t>
            </a:r>
            <a:endParaRPr lang="en-US" sz="12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23076" y="2286000"/>
          <a:ext cx="5317236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960" y="6428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KEEL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3657600" y="6428232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Growth — Illustrative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9811512" y="6428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CLIENTS TO ADDRESS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Keel is built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92424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06654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517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IT consultancies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30175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5–50 person firms running several concurrent client engagements.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98264" y="1691640"/>
            <a:ext cx="3392424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54296" y="1947672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06654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54296" y="26517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&amp; creative agencies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54296" y="30175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delivery teams juggling scope, budget, and reporting.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47888" y="1691640"/>
            <a:ext cx="3392424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03920" y="1947672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206654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26517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 providers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503920" y="30175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MSPs running project work alongside ongoing support contracts.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392424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142232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26110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8463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PM &amp; EA consultants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04672" y="52120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or small-team consultants who need enterprise-grade output.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98264" y="3886200"/>
            <a:ext cx="3392424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54296" y="4142232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26110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54296" y="48463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integrators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54296" y="52120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multiple vendors across one client program.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47888" y="3886200"/>
            <a:ext cx="3392424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503920" y="4142232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2" y="4261104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03920" y="48463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PMOs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503920" y="52120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companies managing vendor-delivered projects in-house.</a:t>
            </a:r>
            <a:endParaRPr lang="en-US" sz="105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473952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22960" y="6428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KEEL</a:t>
            </a:r>
            <a:endParaRPr lang="en-US" sz="800" dirty="0"/>
          </a:p>
        </p:txBody>
      </p:sp>
      <p:sp>
        <p:nvSpPr>
          <p:cNvPr id="36" name="Text 27"/>
          <p:cNvSpPr/>
          <p:nvPr/>
        </p:nvSpPr>
        <p:spPr>
          <a:xfrm>
            <a:off x="3657600" y="6428232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Clients to Address</a:t>
            </a:r>
            <a:endParaRPr lang="en-US" sz="800" dirty="0"/>
          </a:p>
        </p:txBody>
      </p:sp>
      <p:sp>
        <p:nvSpPr>
          <p:cNvPr id="37" name="Text 28"/>
          <p:cNvSpPr/>
          <p:nvPr/>
        </p:nvSpPr>
        <p:spPr>
          <a:xfrm>
            <a:off x="9811512" y="6428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KEEL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48640" y="21031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chart the next engagement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31546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Keel turns scattered delivery tools into one AI-guided system — from first idea to a signed-off deliverable.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4069080"/>
            <a:ext cx="87782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422452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433425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40690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step:  </a:t>
            </a:r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Keel on 1–2 live engagements and compare against today's process.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growth figures in this deck are illustrative examples prepared for internal discussion, not audited forecasts.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2026-07-18T12:51:23Z</dcterms:created>
  <dcterms:modified xsi:type="dcterms:W3CDTF">2026-07-18T12:51:23Z</dcterms:modified>
</cp:coreProperties>
</file>